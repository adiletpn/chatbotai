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Мы команда ___ из ___. Представляем DocMind AI — чат-бот, который читает ваши документы и отвечает на вопросы по ним на казахском, русском и английском, всегда указывая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Расскажите о проблеме на живом примере: студент ищет в регламенте дедлайн, рабочий — норму выдачи СИЗ в инструкции. Документы длинные, на разных языках, часть — сканы.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Покажите три шага. Главное отличие — ответ всегда с источником: документ, страница и цитата, которую можно открыть.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фишка: нажимаем на источник — открывается настоящая страница документа, а строки, на которых основан ответ, подсвечены маркером. Ответ можно проверить за секунду.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Обычные чат-боты умеют только отвечать на вопросы. DocMind сам анализирует документ и проверяет, как человек его усвоил — это важно для инструктажей по охране труда.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— Retrieval-Augmented Generation. Модель не «вспоминает», а читает найденные фрагменты документа. Поэтому ответы точные, а каждый факт подтверждён 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Подчеркните, что все три бонусных пункта регламента (источник, многоязычие, сканы) реализованы.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Отвечая на вопросы жюри: модель подключается через .env — любой OpenAI- или Anthropic-совместимый API, можно бесплатный.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переключитесь на живую демонстрацию: загрузите регламент хакатона, спросите по-русски «Когда финал?», откройте источник, затем загрузите скан.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E3A813"/>
                </a:solidFill>
                <a:latin typeface="Arial"/>
              </a:rPr>
              <a:t>INNOVATION AI HACKATHON – 2026  ·  AIChatBots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68580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Arial"/>
              </a:rPr>
              <a:t>DocMind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60350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Құжаттармен сөйлесетін зияткер чат-бот
Интеллектуальный чат-бот, который отвечает на вопросы по документам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60350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Команда: ____________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Колледж: ____________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Руководитель: ____________</a:t>
            </a:r>
          </a:p>
        </p:txBody>
      </p:sp>
      <p:pic>
        <p:nvPicPr>
          <p:cNvPr id="7" name="Picture 6" descr="ui_mobil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548640"/>
            <a:ext cx="2661944" cy="5760720"/>
          </a:xfrm>
          <a:prstGeom prst="rect">
            <a:avLst/>
          </a:prstGeom>
          <a:ln>
            <a:solidFill>
              <a:srgbClr val="DBE3EC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B2D"/>
                </a:solidFill>
                <a:latin typeface="Arial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6667B"/>
                </a:solidFill>
                <a:latin typeface="Arial"/>
              </a:rPr>
              <a:t>DocMind AI ·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</a:rPr>
              <a:t>Долгий поиск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228600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6667B"/>
                </a:solidFill>
                <a:latin typeface="Arial"/>
              </a:rPr>
              <a:t>Регламенты, инструкции и приказы занимают десятки страниц — нужный пункт ищут вручную.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46304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6002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1031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</a:rPr>
              <a:t>Разные языки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514600"/>
            <a:ext cx="228600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6667B"/>
                </a:solidFill>
                <a:latin typeface="Arial"/>
              </a:rPr>
              <a:t>Документы на казахском, вопросы — на русском или английском, и наоборот.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46304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6002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🖨️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1031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</a:rPr>
              <a:t>Сканы и фото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514600"/>
            <a:ext cx="228600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6667B"/>
                </a:solidFill>
                <a:latin typeface="Arial"/>
              </a:rPr>
              <a:t>Многие документы существуют только как сканы — по ним не работает обычный поиск Ctrl+F.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696" y="146304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6002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21031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</a:rPr>
              <a:t>Нет доверия к 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2514600"/>
            <a:ext cx="228600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6667B"/>
                </a:solidFill>
                <a:latin typeface="Arial"/>
              </a:rPr>
              <a:t>Обычные чат-боты «придумывают» ответы и не показывают, откуда взята информация.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56667B"/>
                </a:solidFill>
                <a:latin typeface="Arial"/>
              </a:rPr>
              <a:t>Особенно остро это на производстве: инструкции по охране труда, технологические регламенты и нормативы должны находиться быстро и без ошибок.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B2D"/>
                </a:solidFill>
                <a:latin typeface="Arial"/>
              </a:rPr>
              <a:t>Решение — DocMind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6667B"/>
                </a:solidFill>
                <a:latin typeface="Arial"/>
              </a:rPr>
              <a:t>DocMind AI · 3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463040"/>
            <a:ext cx="731520" cy="731520"/>
          </a:xfrm>
          <a:prstGeom prst="ellipse">
            <a:avLst/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41732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0F1B2D"/>
                </a:solidFill>
                <a:latin typeface="Arial"/>
              </a:rPr>
              <a:t>Загрузите документ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74520"/>
            <a:ext cx="4206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56667B"/>
                </a:solidFill>
                <a:latin typeface="Arial"/>
              </a:rPr>
              <a:t>PDF, DOCX, PPTX, XLSX, TXT, HTML, фото или скан — через сайт или Telegram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880360"/>
            <a:ext cx="731520" cy="731520"/>
          </a:xfrm>
          <a:prstGeom prst="ellipse">
            <a:avLst/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83464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0F1B2D"/>
                </a:solidFill>
                <a:latin typeface="Arial"/>
              </a:rPr>
              <a:t>Задайте вопрос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291840"/>
            <a:ext cx="4206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56667B"/>
                </a:solidFill>
                <a:latin typeface="Arial"/>
              </a:rPr>
              <a:t>На казахском, русском или английском — текстом или голосом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297680"/>
            <a:ext cx="731520" cy="731520"/>
          </a:xfrm>
          <a:prstGeom prst="ellipse">
            <a:avLst/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25196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0F1B2D"/>
                </a:solidFill>
                <a:latin typeface="Arial"/>
              </a:rPr>
              <a:t>Получите ответ с источником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709160"/>
            <a:ext cx="4206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56667B"/>
                </a:solidFill>
                <a:latin typeface="Arial"/>
              </a:rPr>
              <a:t>Точный ответ по документу + ссылки [1] [2]: файл, страница, цитата</a:t>
            </a:r>
          </a:p>
        </p:txBody>
      </p:sp>
      <p:pic>
        <p:nvPicPr>
          <p:cNvPr id="14" name="Picture 13" descr="ui_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371600"/>
            <a:ext cx="5669280" cy="3543300"/>
          </a:xfrm>
          <a:prstGeom prst="rect">
            <a:avLst/>
          </a:prstGeom>
          <a:ln>
            <a:solidFill>
              <a:srgbClr val="DBE3EC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B2D"/>
                </a:solidFill>
                <a:latin typeface="Arial"/>
              </a:rPr>
              <a:t>Не просто чат: ответ с доказательством на странице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6667B"/>
                </a:solidFill>
                <a:latin typeface="Arial"/>
              </a:rPr>
              <a:t>DocMind AI · 4</a:t>
            </a:r>
          </a:p>
        </p:txBody>
      </p:sp>
      <p:pic>
        <p:nvPicPr>
          <p:cNvPr id="5" name="Picture 4" descr="ui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498079" cy="4686299"/>
          </a:xfrm>
          <a:prstGeom prst="rect">
            <a:avLst/>
          </a:prstGeom>
          <a:ln>
            <a:solidFill>
              <a:srgbClr val="DBE3E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321040" y="146304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Arial"/>
              </a:rPr>
              <a:t>▪  📍 Дәлел</a:t>
            </a:r>
            <a:r>
              <a:rPr sz="1500">
                <a:solidFill>
                  <a:srgbClr val="56667B"/>
                </a:solidFill>
                <a:latin typeface="Arial"/>
              </a:rPr>
              <a:t> — клик по источнику открывает страницу документа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Arial"/>
              </a:rPr>
              <a:t>▪  Жёлтый маркер</a:t>
            </a:r>
            <a:r>
              <a:rPr sz="1500">
                <a:solidFill>
                  <a:srgbClr val="56667B"/>
                </a:solidFill>
                <a:latin typeface="Arial"/>
              </a:rPr>
              <a:t> — подсвечены именно те строки, на которых основан ответ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Arial"/>
              </a:rPr>
              <a:t>▪  Индикатор доверия</a:t>
            </a:r>
            <a:r>
              <a:rPr sz="1500">
                <a:solidFill>
                  <a:srgbClr val="56667B"/>
                </a:solidFill>
                <a:latin typeface="Arial"/>
              </a:rPr>
              <a:t> — «подтверждено N источниками» под каждым ответом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Arial"/>
              </a:rPr>
              <a:t>▪  Нет доказательства</a:t>
            </a:r>
            <a:r>
              <a:rPr sz="1500">
                <a:solidFill>
                  <a:srgbClr val="56667B"/>
                </a:solidFill>
                <a:latin typeface="Arial"/>
              </a:rPr>
              <a:t> — бот честно предупреждает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B2D"/>
                </a:solidFill>
                <a:latin typeface="Arial"/>
              </a:rPr>
              <a:t>Три режима работы с документом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6667B"/>
                </a:solidFill>
                <a:latin typeface="Arial"/>
              </a:rPr>
              <a:t>DocMind AI ·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</a:rPr>
              <a:t>💬 Вопрос-ответ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56667B"/>
                </a:solidFill>
                <a:latin typeface="Arial"/>
              </a:rPr>
              <a:t>диалог на 3 языках с источниками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28016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DFF2F7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39" y="132588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</a:rPr>
              <a:t>🧭 Карта документа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39" y="17373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56667B"/>
                </a:solidFill>
                <a:latin typeface="Arial"/>
              </a:rPr>
              <a:t>сроки, цифры, чек-лист требований, термины — без единого вопроса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8" y="128016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DFF2F7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8" y="132588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</a:rPr>
              <a:t>🎓 Проверка знаний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8" y="17373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56667B"/>
                </a:solidFill>
                <a:latin typeface="Arial"/>
              </a:rPr>
              <a:t>тест по документу с объяснениями и баллами</a:t>
            </a:r>
          </a:p>
        </p:txBody>
      </p:sp>
      <p:pic>
        <p:nvPicPr>
          <p:cNvPr id="14" name="Picture 13" descr="ui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14600"/>
            <a:ext cx="5486400" cy="3429000"/>
          </a:xfrm>
          <a:prstGeom prst="rect">
            <a:avLst/>
          </a:prstGeom>
          <a:ln>
            <a:solidFill>
              <a:srgbClr val="DBE3EC"/>
            </a:solidFill>
          </a:ln>
        </p:spPr>
      </p:pic>
      <p:pic>
        <p:nvPicPr>
          <p:cNvPr id="15" name="Picture 14" descr="ui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514600"/>
            <a:ext cx="5486400" cy="3429000"/>
          </a:xfrm>
          <a:prstGeom prst="rect">
            <a:avLst/>
          </a:prstGeom>
          <a:ln>
            <a:solidFill>
              <a:srgbClr val="DBE3EC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B2D"/>
                </a:solidFill>
                <a:latin typeface="Arial"/>
              </a:rPr>
              <a:t>Как это работает: технология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6667B"/>
                </a:solidFill>
                <a:latin typeface="Arial"/>
              </a:rPr>
              <a:t>DocMind AI ·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965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800" b="0">
                <a:solidFill>
                  <a:srgbClr val="0F1B2D"/>
                </a:solidFill>
                <a:latin typeface="Arial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0F1B2D"/>
                </a:solidFill>
                <a:latin typeface="Arial"/>
              </a:rPr>
              <a:t>Парсинг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19659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56667B"/>
                </a:solidFill>
                <a:latin typeface="Arial"/>
              </a:rPr>
              <a:t>PDF, DOCX, PPTX, XLSX…
сканы → OCR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51176" y="2560320"/>
            <a:ext cx="228600" cy="274320"/>
          </a:xfrm>
          <a:prstGeom prst="rightArrow">
            <a:avLst/>
          </a:prstGeom>
          <a:solidFill>
            <a:srgbClr val="00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16352" y="16459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1783080"/>
            <a:ext cx="1965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800" b="0">
                <a:solidFill>
                  <a:srgbClr val="0F1B2D"/>
                </a:solidFill>
                <a:latin typeface="Arial"/>
              </a:rPr>
              <a:t>✂️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237744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0F1B2D"/>
                </a:solidFill>
                <a:latin typeface="Arial"/>
              </a:rPr>
              <a:t>Фрагменты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6352" y="2834640"/>
            <a:ext cx="19659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56667B"/>
                </a:solidFill>
                <a:latin typeface="Arial"/>
              </a:rPr>
              <a:t>разбиение по абзацам,
номер страницы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18888" y="2560320"/>
            <a:ext cx="228600" cy="274320"/>
          </a:xfrm>
          <a:prstGeom prst="rightArrow">
            <a:avLst/>
          </a:prstGeom>
          <a:solidFill>
            <a:srgbClr val="00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84064" y="16459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DFF2F7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4064" y="1783080"/>
            <a:ext cx="1965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800" b="0">
                <a:solidFill>
                  <a:srgbClr val="0F1B2D"/>
                </a:solidFill>
                <a:latin typeface="Arial"/>
              </a:rPr>
              <a:t>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37744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0F1B2D"/>
                </a:solidFill>
                <a:latin typeface="Arial"/>
              </a:rPr>
              <a:t>Поиск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2834640"/>
            <a:ext cx="19659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56667B"/>
                </a:solidFill>
                <a:latin typeface="Arial"/>
              </a:rPr>
              <a:t>BM25 + стемминг kk/ru,
перевод запроса ×3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86600" y="2560320"/>
            <a:ext cx="228600" cy="274320"/>
          </a:xfrm>
          <a:prstGeom prst="rightArrow">
            <a:avLst/>
          </a:prstGeom>
          <a:solidFill>
            <a:srgbClr val="00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51776" y="16459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DFF2F7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6" y="1783080"/>
            <a:ext cx="1965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800" b="0">
                <a:solidFill>
                  <a:srgbClr val="0F1B2D"/>
                </a:solidFill>
                <a:latin typeface="Arial"/>
              </a:rPr>
              <a:t>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776" y="237744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0F1B2D"/>
                </a:solidFill>
                <a:latin typeface="Arial"/>
              </a:rPr>
              <a:t>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51776" y="2834640"/>
            <a:ext cx="19659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56667B"/>
                </a:solidFill>
                <a:latin typeface="Arial"/>
              </a:rPr>
              <a:t>ответ только по
найденному тексту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354312" y="2560320"/>
            <a:ext cx="228600" cy="274320"/>
          </a:xfrm>
          <a:prstGeom prst="rightArrow">
            <a:avLst/>
          </a:prstGeom>
          <a:solidFill>
            <a:srgbClr val="00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19488" y="16459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19488" y="1783080"/>
            <a:ext cx="1965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800" b="0">
                <a:solidFill>
                  <a:srgbClr val="0F1B2D"/>
                </a:solidFill>
                <a:latin typeface="Arial"/>
              </a:rPr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237744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0F1B2D"/>
                </a:solidFill>
                <a:latin typeface="Arial"/>
              </a:rPr>
              <a:t>Ответ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9488" y="2834640"/>
            <a:ext cx="19659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56667B"/>
                </a:solidFill>
                <a:latin typeface="Arial"/>
              </a:rPr>
              <a:t>на языке вопроса
+ источники [n]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114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F1B2D"/>
                </a:solidFill>
                <a:latin typeface="Arial"/>
              </a:rPr>
              <a:t>▪  Межъязыковой поиск</a:t>
            </a:r>
            <a:r>
              <a:rPr sz="1600">
                <a:solidFill>
                  <a:srgbClr val="56667B"/>
                </a:solidFill>
                <a:latin typeface="Arial"/>
              </a:rPr>
              <a:t> — вопрос на русском находит ответ в казахском документе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B2D"/>
                </a:solidFill>
                <a:latin typeface="Arial"/>
              </a:rPr>
              <a:t>▪  Защита от «галлюцинаций»</a:t>
            </a:r>
            <a:r>
              <a:rPr sz="1600">
                <a:solidFill>
                  <a:srgbClr val="56667B"/>
                </a:solidFill>
                <a:latin typeface="Arial"/>
              </a:rPr>
              <a:t> — промпт запрещает выдумывать; нет ответа в документе → бот честно говорит об этом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B2D"/>
                </a:solidFill>
                <a:latin typeface="Arial"/>
              </a:rPr>
              <a:t>▪  Офлайн-режим</a:t>
            </a:r>
            <a:r>
              <a:rPr sz="1600">
                <a:solidFill>
                  <a:srgbClr val="56667B"/>
                </a:solidFill>
                <a:latin typeface="Arial"/>
              </a:rPr>
              <a:t> — без интернета бот показывает самые релевантные предложения с источниками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B2D"/>
                </a:solidFill>
                <a:latin typeface="Arial"/>
              </a:rPr>
              <a:t>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6667B"/>
                </a:solidFill>
                <a:latin typeface="Arial"/>
              </a:rPr>
              <a:t>DocMind AI ·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B2D"/>
                </a:solidFill>
                <a:latin typeface="Arial"/>
              </a:rPr>
              <a:t>10+ форматов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56667B"/>
                </a:solidFill>
                <a:latin typeface="Arial"/>
              </a:rPr>
              <a:t>PDF, DOCX, PPTX, XLSX, CSV, TXT, HTML, DOC/RTF, JPG/PNG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3716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5087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0116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B2D"/>
                </a:solidFill>
                <a:latin typeface="Arial"/>
              </a:rPr>
              <a:t>Источник ответа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4231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56667B"/>
                </a:solidFill>
                <a:latin typeface="Arial"/>
              </a:rPr>
              <a:t>файл, страница / слайд / лист, цитата, открытие на нужной странице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716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5087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0116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B2D"/>
                </a:solidFill>
                <a:latin typeface="Arial"/>
              </a:rPr>
              <a:t>3 языка 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4231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56667B"/>
                </a:solidFill>
                <a:latin typeface="Arial"/>
              </a:rPr>
              <a:t>қазақша · русский · English — вопросы, ответы и интерфейс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696" y="13716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5087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🖨️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20116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B2D"/>
                </a:solidFill>
                <a:latin typeface="Arial"/>
              </a:rPr>
              <a:t>OCR сканов 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24231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56667B"/>
                </a:solidFill>
                <a:latin typeface="Arial"/>
              </a:rPr>
              <a:t>Tesseract kaz+rus+eng: сканы PDF, фото, картинки в DOCX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8862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23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5262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B2D"/>
                </a:solidFill>
                <a:latin typeface="Arial"/>
              </a:rPr>
              <a:t>Веб + Telegram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9377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56667B"/>
                </a:solidFill>
                <a:latin typeface="Arial"/>
              </a:rPr>
              <a:t>сайт с адаптивным дизайном и Telegram-бот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64992" y="38862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4023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45262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B2D"/>
                </a:solidFill>
                <a:latin typeface="Arial"/>
              </a:rPr>
              <a:t>Карта документа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7872" y="49377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56667B"/>
                </a:solidFill>
                <a:latin typeface="Arial"/>
              </a:rPr>
              <a:t>хронология сроков, ключевые цифры, чек-лист требований, термины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81344" y="38862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4023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🎙️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45262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B2D"/>
                </a:solidFill>
                <a:latin typeface="Arial"/>
              </a:rPr>
              <a:t>Голосовой ввод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49377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56667B"/>
                </a:solidFill>
                <a:latin typeface="Arial"/>
              </a:rPr>
              <a:t>вопрос голосом на казахском, русском, английском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97696" y="38862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0576" y="4023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45262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B2D"/>
                </a:solidFill>
                <a:latin typeface="Arial"/>
              </a:rPr>
              <a:t>Проверка знаний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49377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56667B"/>
                </a:solidFill>
                <a:latin typeface="Arial"/>
              </a:rPr>
              <a:t>тест по документу: баллы, объяснения, разбор ошибок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6667B"/>
                </a:solidFill>
                <a:latin typeface="Arial"/>
              </a:rPr>
              <a:t>★ — дополнительные возможности, отмеченные в регламенте (п. 5.1.2.7)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B2D"/>
                </a:solidFill>
                <a:latin typeface="Arial"/>
              </a:rPr>
              <a:t>Соответствие требованиям регламента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6667B"/>
                </a:solidFill>
                <a:latin typeface="Arial"/>
              </a:rPr>
              <a:t>DocMind AI ·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92240"/>
              </a:tblGrid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Требование п. 5.1.2</a:t>
                      </a:r>
                    </a:p>
                  </a:txBody>
                  <a:tcPr>
                    <a:solidFill>
                      <a:srgbClr val="0089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Реализация</a:t>
                      </a:r>
                    </a:p>
                  </a:txBody>
                  <a:tcPr>
                    <a:solidFill>
                      <a:srgbClr val="0089A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1B2D"/>
                          </a:solidFill>
                          <a:latin typeface="Arial"/>
                        </a:rPr>
                        <a:t>1. Работа с PDF, DOCX и др.</a:t>
                      </a:r>
                    </a:p>
                  </a:txBody>
                  <a:tcPr>
                    <a:solidFill>
                      <a:srgbClr val="D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B2D"/>
                          </a:solidFill>
                          <a:latin typeface="Arial"/>
                        </a:rPr>
                        <a:t>10+ форматов, таблицы, сканы</a:t>
                      </a:r>
                    </a:p>
                  </a:txBody>
                  <a:tcPr>
                    <a:solidFill>
                      <a:srgbClr val="DFF2F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1B2D"/>
                          </a:solidFill>
                          <a:latin typeface="Arial"/>
                        </a:rPr>
                        <a:t>2. Точные и понятные ответы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B2D"/>
                          </a:solidFill>
                          <a:latin typeface="Arial"/>
                        </a:rPr>
                        <a:t>RAG + запрет выдумывать + цитаты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1B2D"/>
                          </a:solidFill>
                          <a:latin typeface="Arial"/>
                        </a:rPr>
                        <a:t>3. ИИ и NLP</a:t>
                      </a:r>
                    </a:p>
                  </a:txBody>
                  <a:tcPr>
                    <a:solidFill>
                      <a:srgbClr val="D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B2D"/>
                          </a:solidFill>
                          <a:latin typeface="Arial"/>
                        </a:rPr>
                        <a:t>LLM, определение языка, стемминг, BM25, перевод запроса</a:t>
                      </a:r>
                    </a:p>
                  </a:txBody>
                  <a:tcPr>
                    <a:solidFill>
                      <a:srgbClr val="DFF2F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1B2D"/>
                          </a:solidFill>
                          <a:latin typeface="Arial"/>
                        </a:rPr>
                        <a:t>4. Telegram / WhatsApp / 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B2D"/>
                          </a:solidFill>
                          <a:latin typeface="Arial"/>
                        </a:rPr>
                        <a:t>Веб-платформа и Telegram-бот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1B2D"/>
                          </a:solidFill>
                          <a:latin typeface="Arial"/>
                        </a:rPr>
                        <a:t>5. Рабочая версия</a:t>
                      </a:r>
                    </a:p>
                  </a:txBody>
                  <a:tcPr>
                    <a:solidFill>
                      <a:srgbClr val="D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B2D"/>
                          </a:solidFill>
                          <a:latin typeface="Arial"/>
                        </a:rPr>
                        <a:t>Запуск одной командой, автотест: 20 проверок</a:t>
                      </a:r>
                    </a:p>
                  </a:txBody>
                  <a:tcPr>
                    <a:solidFill>
                      <a:srgbClr val="DFF2F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1B2D"/>
                          </a:solidFill>
                          <a:latin typeface="Arial"/>
                        </a:rPr>
                        <a:t>6. Презентация и видео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B2D"/>
                          </a:solidFill>
                          <a:latin typeface="Arial"/>
                        </a:rPr>
                        <a:t>Эта презентация + видео 5–7 минут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1B2D"/>
                          </a:solidFill>
                          <a:latin typeface="Arial"/>
                        </a:rPr>
                        <a:t>7. Источник, многоязычие, сканы</a:t>
                      </a:r>
                    </a:p>
                  </a:txBody>
                  <a:tcPr>
                    <a:solidFill>
                      <a:srgbClr val="D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B2D"/>
                          </a:solidFill>
                          <a:latin typeface="Arial"/>
                        </a:rPr>
                        <a:t>Все три реализованы</a:t>
                      </a:r>
                    </a:p>
                  </a:txBody>
                  <a:tcPr>
                    <a:solidFill>
                      <a:srgbClr val="DF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B2D"/>
                </a:solidFill>
                <a:latin typeface="Arial"/>
              </a:rPr>
              <a:t>Технологии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6667B"/>
                </a:solidFill>
                <a:latin typeface="Arial"/>
              </a:rPr>
              <a:t>DocMind AI ·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237744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325880"/>
            <a:ext cx="850392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0">
                <a:solidFill>
                  <a:srgbClr val="0F1B2D"/>
                </a:solidFill>
                <a:latin typeface="Arial"/>
              </a:rPr>
              <a:t>Python 3, FastAPI, потоковые ответы (SSE)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39112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39112"/>
            <a:ext cx="237744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ИИ /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039112"/>
            <a:ext cx="850392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0">
                <a:solidFill>
                  <a:srgbClr val="0F1B2D"/>
                </a:solidFill>
                <a:latin typeface="Arial"/>
              </a:rPr>
              <a:t>OpenAI- или Anthropic-совместимый API (подключается через .env)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52344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752344"/>
            <a:ext cx="237744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Поиск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752344"/>
            <a:ext cx="850392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0">
                <a:solidFill>
                  <a:srgbClr val="0F1B2D"/>
                </a:solidFill>
                <a:latin typeface="Arial"/>
              </a:rPr>
              <a:t>BM25 + стемминг для казахского и русского, межъязыковое расширение запроса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65576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465576"/>
            <a:ext cx="237744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Документы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465576"/>
            <a:ext cx="850392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0">
                <a:solidFill>
                  <a:srgbClr val="0F1B2D"/>
                </a:solidFill>
                <a:latin typeface="Arial"/>
              </a:rPr>
              <a:t>PyMuPDF, python-docx, python-pptx, openpyxl, BeautifulSoup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78808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178808"/>
            <a:ext cx="237744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OCR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178808"/>
            <a:ext cx="850392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0">
                <a:solidFill>
                  <a:srgbClr val="0F1B2D"/>
                </a:solidFill>
                <a:latin typeface="Arial"/>
              </a:rPr>
              <a:t>Tesseract 5 с моделями kaz, rus, eng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92040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892040"/>
            <a:ext cx="237744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Интерфейсы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892040"/>
            <a:ext cx="850392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0">
                <a:solidFill>
                  <a:srgbClr val="0F1B2D"/>
                </a:solidFill>
                <a:latin typeface="Arial"/>
              </a:rPr>
              <a:t>HTML/CSS/JS (адаптивный, тёмная тема), Telegram — aiogram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605272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605272"/>
            <a:ext cx="237744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Безопасность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5605272"/>
            <a:ext cx="850392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0">
                <a:solidFill>
                  <a:srgbClr val="0F1B2D"/>
                </a:solidFill>
                <a:latin typeface="Arial"/>
              </a:rPr>
              <a:t>Вход по логину/паролю: хэши PBKDF2, HttpOnly-cookie, изоляция документов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B2D"/>
                </a:solidFill>
                <a:latin typeface="Arial"/>
              </a:rP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6667B"/>
                </a:solidFill>
                <a:latin typeface="Arial"/>
              </a:rPr>
              <a:t>DocMind AI · 10</a:t>
            </a:r>
          </a:p>
        </p:txBody>
      </p:sp>
      <p:pic>
        <p:nvPicPr>
          <p:cNvPr id="5" name="Picture 4" descr="ui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949440" cy="4343400"/>
          </a:xfrm>
          <a:prstGeom prst="rect">
            <a:avLst/>
          </a:prstGeom>
          <a:ln>
            <a:solidFill>
              <a:srgbClr val="DBE3E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Arial"/>
              </a:rPr>
              <a:t>▪  Регламент хакатона (PDF, қазақша)</a:t>
            </a:r>
            <a:r>
              <a:rPr sz="1500">
                <a:solidFill>
                  <a:srgbClr val="56667B"/>
                </a:solidFill>
                <a:latin typeface="Arial"/>
              </a:rPr>
              <a:t> — «Когда финал?» по-русски → 14 ноября, стр. 1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Arial"/>
              </a:rPr>
              <a:t>▪  Скан без текста</a:t>
            </a:r>
            <a:r>
              <a:rPr sz="1500">
                <a:solidFill>
                  <a:srgbClr val="56667B"/>
                </a:solidFill>
                <a:latin typeface="Arial"/>
              </a:rPr>
              <a:t> — OCR распознаёт таблицу баллов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Arial"/>
              </a:rPr>
              <a:t>▪  Инструкция по охране труда (DOCX)</a:t>
            </a:r>
            <a:r>
              <a:rPr sz="1500">
                <a:solidFill>
                  <a:srgbClr val="56667B"/>
                </a:solidFill>
                <a:latin typeface="Arial"/>
              </a:rPr>
              <a:t> — «Срок носки каски?» → 24 месяца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Arial"/>
              </a:rPr>
              <a:t>▪  Telegram</a:t>
            </a:r>
            <a:r>
              <a:rPr sz="1500">
                <a:solidFill>
                  <a:srgbClr val="56667B"/>
                </a:solidFill>
                <a:latin typeface="Arial"/>
              </a:rPr>
              <a:t> — тот же бот в мессенджере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B2D"/>
                </a:solidFill>
                <a:latin typeface="Arial"/>
              </a:rPr>
              <a:t>Где применять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6667B"/>
                </a:solidFill>
                <a:latin typeface="Arial"/>
              </a:rPr>
              <a:t>DocMind AI ·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</a:rPr>
              <a:t>Производство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50749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6667B"/>
                </a:solidFill>
                <a:latin typeface="Arial"/>
              </a:rPr>
              <a:t>инструкции по охране труда, техрегламенты, нормы СИЗ — быстрый ответ рабочему прямо в Telegram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1168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</a:rPr>
              <a:t>Колледжи и вузы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423160"/>
            <a:ext cx="50749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6667B"/>
                </a:solidFill>
                <a:latin typeface="Arial"/>
              </a:rPr>
              <a:t>положения, правила приёма, расписания, методички — помощник для студентов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9476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🏛️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3484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</a:rPr>
              <a:t>Госсектор и бизнес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50749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6667B"/>
                </a:solidFill>
                <a:latin typeface="Arial"/>
              </a:rPr>
              <a:t>приказы, договоры, стандарты — поиск по архиву документов на трёх языках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9476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9319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B2D"/>
                </a:solidFill>
                <a:latin typeface="Arial"/>
              </a:rPr>
              <a:t>⚖️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43484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</a:rPr>
              <a:t>Юристы и HR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846320"/>
            <a:ext cx="50749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6667B"/>
                </a:solidFill>
                <a:latin typeface="Arial"/>
              </a:rPr>
              <a:t>договоры, трудовые нормы, внутренние политики — ответы с точной ссылкой на пункт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B2D"/>
                </a:solidFill>
                <a:latin typeface="Arial"/>
              </a:rPr>
              <a:t>Чем мы отличаемся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6667B"/>
                </a:solidFill>
                <a:latin typeface="Arial"/>
              </a:rPr>
              <a:t>DocMind AI ·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0089A8"/>
                </a:solidFill>
                <a:latin typeface="Arial"/>
              </a:rPr>
              <a:t>Преимущества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F1B2D"/>
                </a:solidFill>
                <a:latin typeface="Arial"/>
              </a:rPr>
              <a:t>▪  Казахский язык</a:t>
            </a:r>
            <a:r>
              <a:rPr sz="1600">
                <a:solidFill>
                  <a:srgbClr val="56667B"/>
                </a:solidFill>
                <a:latin typeface="Arial"/>
              </a:rPr>
              <a:t> — стемминг и OCR под казахский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B2D"/>
                </a:solidFill>
                <a:latin typeface="Arial"/>
              </a:rPr>
              <a:t>▪  Доказательность</a:t>
            </a:r>
            <a:r>
              <a:rPr sz="1600">
                <a:solidFill>
                  <a:srgbClr val="56667B"/>
                </a:solidFill>
                <a:latin typeface="Arial"/>
              </a:rPr>
              <a:t> — подсветка ответа прямо на странице документа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B2D"/>
                </a:solidFill>
                <a:latin typeface="Arial"/>
              </a:rPr>
              <a:t>▪  Не только чат</a:t>
            </a:r>
            <a:r>
              <a:rPr sz="1600">
                <a:solidFill>
                  <a:srgbClr val="56667B"/>
                </a:solidFill>
                <a:latin typeface="Arial"/>
              </a:rPr>
              <a:t> — карта документа и проверка знаний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B2D"/>
                </a:solidFill>
                <a:latin typeface="Arial"/>
              </a:rPr>
              <a:t>▪  Работает со сканами</a:t>
            </a:r>
            <a:r>
              <a:rPr sz="1600">
                <a:solidFill>
                  <a:srgbClr val="56667B"/>
                </a:solidFill>
                <a:latin typeface="Arial"/>
              </a:rPr>
              <a:t> — бесплатный локальный OCR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B2D"/>
                </a:solidFill>
                <a:latin typeface="Arial"/>
              </a:rPr>
              <a:t>▪  Без интернета</a:t>
            </a:r>
            <a:r>
              <a:rPr sz="1600">
                <a:solidFill>
                  <a:srgbClr val="56667B"/>
                </a:solidFill>
                <a:latin typeface="Arial"/>
              </a:rPr>
              <a:t> — офлайн-режим поиска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B2D"/>
                </a:solidFill>
                <a:latin typeface="Arial"/>
              </a:rPr>
              <a:t>▪  Свободный выбор модели</a:t>
            </a:r>
            <a:r>
              <a:rPr sz="1600">
                <a:solidFill>
                  <a:srgbClr val="56667B"/>
                </a:solidFill>
                <a:latin typeface="Arial"/>
              </a:rPr>
              <a:t> — любой совместимый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0089A8"/>
                </a:solidFill>
                <a:latin typeface="Arial"/>
              </a:rPr>
              <a:t>План развития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0F1B2D"/>
                </a:solidFill>
                <a:latin typeface="Arial"/>
              </a:rPr>
              <a:t>▪  WhatsApp-бот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F1B2D"/>
                </a:solidFill>
                <a:latin typeface="Arial"/>
              </a:rPr>
              <a:t>▪  Векторный (семантический) поиск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F1B2D"/>
                </a:solidFill>
                <a:latin typeface="Arial"/>
              </a:rPr>
              <a:t>▪  Подключение к системам документооборота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F1B2D"/>
                </a:solidFill>
                <a:latin typeface="Arial"/>
              </a:rPr>
              <a:t>▪  Голосовые ответы на казахском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F1B2D"/>
                </a:solidFill>
                <a:latin typeface="Arial"/>
              </a:rPr>
              <a:t>▪  Роли и общие базы знаний для организаций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94560"/>
            <a:ext cx="1219169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Рахмет! Спасибо!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Arial"/>
              </a:rPr>
              <a:t>DocMind AI — ответы по документам с точным источником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0">
                <a:solidFill>
                  <a:srgbClr val="E3A813"/>
                </a:solidFill>
                <a:latin typeface="Arial"/>
              </a:rPr>
              <a:t>Сайт: ____________     Telegram: @____________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