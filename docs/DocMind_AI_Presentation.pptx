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 команда ___ из ___. Представляем DocMind AI — чат-бот, который читает ваши документы и отвечает на вопросы по ним на казахском, русском и английском, всегда указывая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Расскажите о проблеме на живом примере: студент ищет в регламенте дедлайн, рабочий — норму выдачи СИЗ в инструкции. Документы длинные, на разных языках, часть — сканы.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три шага. Главное отличие — ответ всегда с источником: документ, страница и цитата, которую можно открыть.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фишка: нажимаем на источник — открывается настоящая страница документа, а строки, на которых основан ответ, подсвечены маркером. Ответ можно проверить за секунду.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Обычные чат-боты умеют только отвечать на вопросы. DocMind сам анализирует документ и проверяет, как человек его усвоил — это важно для инструктажей по охране труда.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— Retrieval-Augmented Generation. Модель не «вспоминает», а читает найденные фрагменты документа. Поэтому ответы точные, а каждый факт подтверждён ссылкой.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Подчеркните, что все три бонусных пункта регламента (источник, многоязычие, сканы) реализованы.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Отвечая на вопросы жюри: модель подключается через .env — любой OpenAI- или Anthropic-совместимый API, можно бесплатный.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переключитесь на живую демонстрацию: загрузите регламент хакатона, спросите по-русски «Когда финал?», откройте источник, затем загрузите скан.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6E8E1"/>
                </a:solidFill>
                <a:latin typeface="Arial"/>
              </a:rPr>
              <a:t>INNOVATION AI HACKATHON – 2026  ·  AIChatBots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8580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DocMind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6035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Құжаттармен сөйлесетін зияткер чат-бот
Интеллектуальный чат-бот, который отвечает на вопросы по документам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035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Команда: ____________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Колледж: ____________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Руководитель: ____________</a:t>
            </a:r>
          </a:p>
        </p:txBody>
      </p:sp>
      <p:pic>
        <p:nvPicPr>
          <p:cNvPr id="7" name="Picture 6" descr="ui_mobil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48640"/>
            <a:ext cx="2661944" cy="5760720"/>
          </a:xfrm>
          <a:prstGeom prst="rect">
            <a:avLst/>
          </a:prstGeom>
          <a:ln>
            <a:solidFill>
              <a:srgbClr val="E6E3D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Долгий поиск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2860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5736B"/>
                </a:solidFill>
                <a:latin typeface="Arial"/>
              </a:rPr>
              <a:t>Регламенты, инструкции и приказы занимают десятки страниц — нужный пункт ищут вручную.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10312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Разные языки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514600"/>
            <a:ext cx="22860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5736B"/>
                </a:solidFill>
                <a:latin typeface="Arial"/>
              </a:rPr>
              <a:t>Документы на казахском, вопросы — на русском или английском, и наоборот.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🖨️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0312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Сканы и фото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14600"/>
            <a:ext cx="22860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5736B"/>
                </a:solidFill>
                <a:latin typeface="Arial"/>
              </a:rPr>
              <a:t>Многие документы существуют только как сканы — по ним не работает обычный поиск Ctrl+F.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10312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Нет доверия к 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514600"/>
            <a:ext cx="22860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75736B"/>
                </a:solidFill>
                <a:latin typeface="Arial"/>
              </a:rPr>
              <a:t>Обычные чат-боты «придумывают» ответы и не показывают, откуда взята информация.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75736B"/>
                </a:solidFill>
                <a:latin typeface="Arial"/>
              </a:rPr>
              <a:t>Особенно остро это на производстве: инструкции по охране труда, технологические регламенты и нормативы должны находиться быстро и без ошибок.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Решение — DocMind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3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1732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1E1D"/>
                </a:solidFill>
                <a:latin typeface="Arial"/>
              </a:rPr>
              <a:t>Загрузите документ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20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36B"/>
                </a:solidFill>
                <a:latin typeface="Arial"/>
              </a:rPr>
              <a:t>PDF, DOCX, PPTX, XLSX, TXT, HTML, фото или скан — через сайт или Telegram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80360"/>
            <a:ext cx="731520" cy="731520"/>
          </a:xfrm>
          <a:prstGeom prst="ellipse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3464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1E1D"/>
                </a:solidFill>
                <a:latin typeface="Arial"/>
              </a:rPr>
              <a:t>Задайте вопрос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91840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36B"/>
                </a:solidFill>
                <a:latin typeface="Arial"/>
              </a:rPr>
              <a:t>На казахском, русском или английском — текстом или голосом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97680"/>
            <a:ext cx="731520" cy="731520"/>
          </a:xfrm>
          <a:prstGeom prst="ellipse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25196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1E1D"/>
                </a:solidFill>
                <a:latin typeface="Arial"/>
              </a:rPr>
              <a:t>Получите ответ с источником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709160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36B"/>
                </a:solidFill>
                <a:latin typeface="Arial"/>
              </a:rPr>
              <a:t>Точный ответ по документу + ссылки [1] [2]: файл, страница, цитата</a:t>
            </a:r>
          </a:p>
        </p:txBody>
      </p:sp>
      <p:pic>
        <p:nvPicPr>
          <p:cNvPr id="14" name="Picture 13" descr="ui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669280" cy="3543300"/>
          </a:xfrm>
          <a:prstGeom prst="rect">
            <a:avLst/>
          </a:prstGeom>
          <a:ln>
            <a:solidFill>
              <a:srgbClr val="E6E3D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Не просто чат: ответ с доказательством на странице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4</a:t>
            </a:r>
          </a:p>
        </p:txBody>
      </p:sp>
      <p:pic>
        <p:nvPicPr>
          <p:cNvPr id="5" name="Picture 4" descr="ui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498079" cy="4686299"/>
          </a:xfrm>
          <a:prstGeom prst="rect">
            <a:avLst/>
          </a:prstGeom>
          <a:ln>
            <a:solidFill>
              <a:srgbClr val="E6E3D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32104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📍 Дәлел</a:t>
            </a:r>
            <a:r>
              <a:rPr sz="1500">
                <a:solidFill>
                  <a:srgbClr val="75736B"/>
                </a:solidFill>
                <a:latin typeface="Arial"/>
              </a:rPr>
              <a:t> — клик по источнику открывает страницу документа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Жёлтый маркер</a:t>
            </a:r>
            <a:r>
              <a:rPr sz="1500">
                <a:solidFill>
                  <a:srgbClr val="75736B"/>
                </a:solidFill>
                <a:latin typeface="Arial"/>
              </a:rPr>
              <a:t> — подсвечены именно те строки, на которых основан ответ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Индикатор доверия</a:t>
            </a:r>
            <a:r>
              <a:rPr sz="1500">
                <a:solidFill>
                  <a:srgbClr val="75736B"/>
                </a:solidFill>
                <a:latin typeface="Arial"/>
              </a:rPr>
              <a:t> — «подтверждено N источниками» под каждым ответом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Нет доказательства</a:t>
            </a:r>
            <a:r>
              <a:rPr sz="1500">
                <a:solidFill>
                  <a:srgbClr val="75736B"/>
                </a:solidFill>
                <a:latin typeface="Arial"/>
              </a:rPr>
              <a:t> — бот честно предупреждает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Три режима работы с документом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💬 Вопрос-ответ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диалог на 3 языках с источниками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6E8E1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32588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🧭 Карта документа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7373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сроки, цифры, чек-лист требований, термины — без единого вопроса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28016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6E8E1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32588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🎓 Проверка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8" y="17373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тест по документу с объяснениями и баллами</a:t>
            </a:r>
          </a:p>
        </p:txBody>
      </p:sp>
      <p:pic>
        <p:nvPicPr>
          <p:cNvPr id="14" name="Picture 13" descr="ui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5486400" cy="3429000"/>
          </a:xfrm>
          <a:prstGeom prst="rect">
            <a:avLst/>
          </a:prstGeom>
          <a:ln>
            <a:solidFill>
              <a:srgbClr val="E6E3D8"/>
            </a:solidFill>
          </a:ln>
        </p:spPr>
      </p:pic>
      <p:pic>
        <p:nvPicPr>
          <p:cNvPr id="15" name="Picture 14" descr="ui_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514600"/>
            <a:ext cx="5486400" cy="3429000"/>
          </a:xfrm>
          <a:prstGeom prst="rect">
            <a:avLst/>
          </a:prstGeom>
          <a:ln>
            <a:solidFill>
              <a:srgbClr val="E6E3D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Как это работает: технология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0">
                <a:solidFill>
                  <a:srgbClr val="1F1E1D"/>
                </a:solidFill>
                <a:latin typeface="Arial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F1E1D"/>
                </a:solidFill>
                <a:latin typeface="Arial"/>
              </a:rPr>
              <a:t>Парсинг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965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75736B"/>
                </a:solidFill>
                <a:latin typeface="Arial"/>
              </a:rPr>
              <a:t>PDF, DOCX, PPTX, XLSX…
сканы → OCR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1176" y="2560320"/>
            <a:ext cx="228600" cy="274320"/>
          </a:xfrm>
          <a:prstGeom prst="rightArrow">
            <a:avLst/>
          </a:prstGeom>
          <a:solidFill>
            <a:srgbClr val="C26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6352" y="16459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783080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0">
                <a:solidFill>
                  <a:srgbClr val="1F1E1D"/>
                </a:solidFill>
                <a:latin typeface="Arial"/>
              </a:rPr>
              <a:t>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37744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F1E1D"/>
                </a:solidFill>
                <a:latin typeface="Arial"/>
              </a:rPr>
              <a:t>Фрагменты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834640"/>
            <a:ext cx="1965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75736B"/>
                </a:solidFill>
                <a:latin typeface="Arial"/>
              </a:rPr>
              <a:t>разбиение по абзацам,
номер страницы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2560320"/>
            <a:ext cx="228600" cy="274320"/>
          </a:xfrm>
          <a:prstGeom prst="rightArrow">
            <a:avLst/>
          </a:prstGeom>
          <a:solidFill>
            <a:srgbClr val="C26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4064" y="16459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F6E8E1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783080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0">
                <a:solidFill>
                  <a:srgbClr val="1F1E1D"/>
                </a:solidFill>
                <a:latin typeface="Arial"/>
              </a:rPr>
              <a:t>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37744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F1E1D"/>
                </a:solidFill>
                <a:latin typeface="Arial"/>
              </a:rPr>
              <a:t>Поиск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834640"/>
            <a:ext cx="1965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75736B"/>
                </a:solidFill>
                <a:latin typeface="Arial"/>
              </a:rPr>
              <a:t>BM25 + стемминг kk/ru,
перевод запроса ×3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560320"/>
            <a:ext cx="228600" cy="274320"/>
          </a:xfrm>
          <a:prstGeom prst="rightArrow">
            <a:avLst/>
          </a:prstGeom>
          <a:solidFill>
            <a:srgbClr val="C26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51776" y="16459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F6E8E1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6" y="1783080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0">
                <a:solidFill>
                  <a:srgbClr val="1F1E1D"/>
                </a:solidFill>
                <a:latin typeface="Arial"/>
              </a:rP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237744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F1E1D"/>
                </a:solidFill>
                <a:latin typeface="Arial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2834640"/>
            <a:ext cx="1965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75736B"/>
                </a:solidFill>
                <a:latin typeface="Arial"/>
              </a:rPr>
              <a:t>ответ только по
найденному тексту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54312" y="2560320"/>
            <a:ext cx="228600" cy="274320"/>
          </a:xfrm>
          <a:prstGeom prst="rightArrow">
            <a:avLst/>
          </a:prstGeom>
          <a:solidFill>
            <a:srgbClr val="C26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9488" y="16459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1783080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0">
                <a:solidFill>
                  <a:srgbClr val="1F1E1D"/>
                </a:solidFill>
                <a:latin typeface="Arial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37744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F1E1D"/>
                </a:solidFill>
                <a:latin typeface="Arial"/>
              </a:rPr>
              <a:t>Ответ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834640"/>
            <a:ext cx="1965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75736B"/>
                </a:solidFill>
                <a:latin typeface="Arial"/>
              </a:rPr>
              <a:t>на языке вопроса
+ источники [n]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Межъязыковой поиск</a:t>
            </a:r>
            <a:r>
              <a:rPr sz="1600">
                <a:solidFill>
                  <a:srgbClr val="75736B"/>
                </a:solidFill>
                <a:latin typeface="Arial"/>
              </a:rPr>
              <a:t> — вопрос на русском находит ответ в казахском документе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Защита от «галлюцинаций»</a:t>
            </a:r>
            <a:r>
              <a:rPr sz="1600">
                <a:solidFill>
                  <a:srgbClr val="75736B"/>
                </a:solidFill>
                <a:latin typeface="Arial"/>
              </a:rPr>
              <a:t> — промпт запрещает выдумывать; нет ответа в документе → бот честно говорит об этом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Офлайн-режим</a:t>
            </a:r>
            <a:r>
              <a:rPr sz="1600">
                <a:solidFill>
                  <a:srgbClr val="75736B"/>
                </a:solidFill>
                <a:latin typeface="Arial"/>
              </a:rPr>
              <a:t> — без интернета бот показывает самые релевантные предложения с источниками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10+ форматов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PDF, DOCX, PPTX, XLSX, CSV, TXT, HTML, DOC/RTF, JPG/PNG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0116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Источник ответа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4231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файл, страница / слайд / лист, цитата, открытие на нужной странице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0116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3 языка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4231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қазақша · русский · English — вопросы, ответы и интерфейс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🖨️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0116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OCR сканов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4231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Tesseract kaz+rus+eng: сканы PDF, фото, картинки в DOCX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Веб + Telegram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сайт с адаптивным дизайном и Telegram-бот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2" y="38862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40233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45262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Карта документа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49377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хронология сроков, ключевые цифры, чек-лист требований, термины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8862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0233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🎙️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262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Голосовой ввод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9377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вопрос голосом на казахском, русском, английском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38862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576" y="40233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45262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1E1D"/>
                </a:solidFill>
                <a:latin typeface="Arial"/>
              </a:rPr>
              <a:t>Проверка знаний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493776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75736B"/>
                </a:solidFill>
                <a:latin typeface="Arial"/>
              </a:rPr>
              <a:t>тест по документу: баллы, объяснения, разбор ошибок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5736B"/>
                </a:solidFill>
                <a:latin typeface="Arial"/>
              </a:rPr>
              <a:t>★ — дополнительные возможности, отмеченные в регламенте (п. 5.1.2.7)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Соответствие требованиям регламента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Требование п. 5.1.2</a:t>
                      </a:r>
                    </a:p>
                  </a:txBody>
                  <a:tcPr>
                    <a:solidFill>
                      <a:srgbClr val="C26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Реализация</a:t>
                      </a:r>
                    </a:p>
                  </a:txBody>
                  <a:tcPr>
                    <a:solidFill>
                      <a:srgbClr val="C260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1. Работа с PDF, DOCX и др.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10+ форматов, таблицы, сканы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2. Точные и понятные ответы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RAG + запрет выдумывать + цитаты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3. ИИ и NLP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LLM, определение языка, стемминг, BM25, перевод запроса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4. Telegram / WhatsApp / веб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Веб-платформа и Telegram-бот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5. Рабочая версия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Запуск одной командой, автотест: 20 проверок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6. Презентация и видео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Эта презентация + видео 5–7 минут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D"/>
                          </a:solidFill>
                          <a:latin typeface="Arial"/>
                        </a:rPr>
                        <a:t>7. Источник, многоязычие, сканы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D"/>
                          </a:solidFill>
                          <a:latin typeface="Arial"/>
                        </a:rPr>
                        <a:t>Все три реализованы</a:t>
                      </a:r>
                    </a:p>
                  </a:txBody>
                  <a:tcPr>
                    <a:solidFill>
                      <a:srgbClr val="F6E8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25880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Python 3, FastAPI, потоковые ответы (SSE)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39112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ИИ /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39112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OpenAI- или Anthropic-совместимый API (подключается через .env)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52344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52344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Поиск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52344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BM25 + стемминг для казахского и русского, межъязыковое расширение запроса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65576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65576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Документы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65576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PyMuPDF, python-docx, python-pptx, openpyxl, BeautifulSoup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78808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78808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78808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Tesseract 5 с моделями kaz, rus, eng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Интерфейсы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892040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HTML/CSS/JS (адаптивный, тёмная тема), Telegram — aiogram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05272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05272"/>
            <a:ext cx="237744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Безопасность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605272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F1E1D"/>
                </a:solidFill>
                <a:latin typeface="Arial"/>
              </a:rPr>
              <a:t>Вход по логину/паролю: хэши PBKDF2, HttpOnly-cookie, изоляция документов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10</a:t>
            </a:r>
          </a:p>
        </p:txBody>
      </p:sp>
      <p:pic>
        <p:nvPicPr>
          <p:cNvPr id="5" name="Picture 4" descr="ui_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  <a:ln>
            <a:solidFill>
              <a:srgbClr val="E6E3D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6384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Регламент хакатона (PDF, қазақша)</a:t>
            </a:r>
            <a:r>
              <a:rPr sz="1500">
                <a:solidFill>
                  <a:srgbClr val="75736B"/>
                </a:solidFill>
                <a:latin typeface="Arial"/>
              </a:rPr>
              <a:t> — «Когда финал?» по-русски → 14 ноября, стр. 1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Скан без текста</a:t>
            </a:r>
            <a:r>
              <a:rPr sz="1500">
                <a:solidFill>
                  <a:srgbClr val="75736B"/>
                </a:solidFill>
                <a:latin typeface="Arial"/>
              </a:rPr>
              <a:t> — OCR распознаёт таблицу баллов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Инструкция по охране труда (DOCX)</a:t>
            </a:r>
            <a:r>
              <a:rPr sz="1500">
                <a:solidFill>
                  <a:srgbClr val="75736B"/>
                </a:solidFill>
                <a:latin typeface="Arial"/>
              </a:rPr>
              <a:t> — «Срок носки каски?» → 24 месяца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1E1D"/>
                </a:solidFill>
                <a:latin typeface="Arial"/>
              </a:rPr>
              <a:t>▪  Telegram</a:t>
            </a:r>
            <a:r>
              <a:rPr sz="1500">
                <a:solidFill>
                  <a:srgbClr val="75736B"/>
                </a:solidFill>
                <a:latin typeface="Arial"/>
              </a:rPr>
              <a:t> — тот же бот в мессенджере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Где применять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Производство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074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75736B"/>
                </a:solidFill>
                <a:latin typeface="Arial"/>
              </a:rPr>
              <a:t>инструкции по охране труда, техрегламенты, нормы СИЗ — быстрый ответ рабочему прямо в Telegram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Колледжи и вузы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23160"/>
            <a:ext cx="5074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75736B"/>
                </a:solidFill>
                <a:latin typeface="Arial"/>
              </a:rPr>
              <a:t>положения, правила приёма, расписания, методички — помощник для студентов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Госсектор и бизнес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74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75736B"/>
                </a:solidFill>
                <a:latin typeface="Arial"/>
              </a:rPr>
              <a:t>приказы, договоры, стандарты — поиск по архиву документов на трёх языках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1F1E1D"/>
                </a:solidFill>
                <a:latin typeface="Arial"/>
              </a:rPr>
              <a:t>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43484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1E1D"/>
                </a:solidFill>
                <a:latin typeface="Arial"/>
              </a:rPr>
              <a:t>Юристы и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846320"/>
            <a:ext cx="5074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75736B"/>
                </a:solidFill>
                <a:latin typeface="Arial"/>
              </a:rPr>
              <a:t>договоры, трудовые нормы, внутренние политики — ответы с точной ссылкой на пункт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</a:rPr>
              <a:t>Чем мы отличаемся и 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75736B"/>
                </a:solidFill>
                <a:latin typeface="Arial"/>
              </a:rPr>
              <a:t>DocMind AI ·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2603E"/>
                </a:solidFill>
                <a:latin typeface="Arial"/>
              </a:rPr>
              <a:t>Преимущества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Казахский язык</a:t>
            </a:r>
            <a:r>
              <a:rPr sz="1600">
                <a:solidFill>
                  <a:srgbClr val="75736B"/>
                </a:solidFill>
                <a:latin typeface="Arial"/>
              </a:rPr>
              <a:t> — стемминг и OCR под казахский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Доказательность</a:t>
            </a:r>
            <a:r>
              <a:rPr sz="1600">
                <a:solidFill>
                  <a:srgbClr val="75736B"/>
                </a:solidFill>
                <a:latin typeface="Arial"/>
              </a:rPr>
              <a:t> — подсветка ответа прямо на странице документа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Не только чат</a:t>
            </a:r>
            <a:r>
              <a:rPr sz="1600">
                <a:solidFill>
                  <a:srgbClr val="75736B"/>
                </a:solidFill>
                <a:latin typeface="Arial"/>
              </a:rPr>
              <a:t> — карта документа и проверка знаний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Работает со сканами</a:t>
            </a:r>
            <a:r>
              <a:rPr sz="1600">
                <a:solidFill>
                  <a:srgbClr val="75736B"/>
                </a:solidFill>
                <a:latin typeface="Arial"/>
              </a:rPr>
              <a:t> — бесплатный локальный OCR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Без интернета</a:t>
            </a:r>
            <a:r>
              <a:rPr sz="1600">
                <a:solidFill>
                  <a:srgbClr val="75736B"/>
                </a:solidFill>
                <a:latin typeface="Arial"/>
              </a:rPr>
              <a:t> — офлайн-режим поиска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1E1D"/>
                </a:solidFill>
                <a:latin typeface="Arial"/>
              </a:rPr>
              <a:t>▪  Свободный выбор модели</a:t>
            </a:r>
            <a:r>
              <a:rPr sz="1600">
                <a:solidFill>
                  <a:srgbClr val="75736B"/>
                </a:solidFill>
                <a:latin typeface="Arial"/>
              </a:rPr>
              <a:t> — любой совместимый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2603E"/>
                </a:solidFill>
                <a:latin typeface="Arial"/>
              </a:rPr>
              <a:t>План развития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F1E1D"/>
                </a:solidFill>
                <a:latin typeface="Arial"/>
              </a:rPr>
              <a:t>▪  WhatsApp-бот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1E1D"/>
                </a:solidFill>
                <a:latin typeface="Arial"/>
              </a:rPr>
              <a:t>▪  Векторный (семантический) поиск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1E1D"/>
                </a:solidFill>
                <a:latin typeface="Arial"/>
              </a:rPr>
              <a:t>▪  Подключение к системам документооборота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1E1D"/>
                </a:solidFill>
                <a:latin typeface="Arial"/>
              </a:rPr>
              <a:t>▪  Голосовые ответы на казахском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1E1D"/>
                </a:solidFill>
                <a:latin typeface="Arial"/>
              </a:rPr>
              <a:t>▪  Роли и общие базы знаний для организаций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6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Рахмет! Спасибо!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ial"/>
              </a:rPr>
              <a:t>DocMind AI — ответы по документам с точным источником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6E8E1"/>
                </a:solidFill>
                <a:latin typeface="Arial"/>
              </a:rPr>
              <a:t>Сайт: ____________     Telegram: @____________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